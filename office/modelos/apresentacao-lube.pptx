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7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>
            <a:off x="-548640" y="4754880"/>
            <a:ext cx="7498079" cy="502920"/>
          </a:xfrm>
          <a:prstGeom prst="parallelogram">
            <a:avLst>
              <a:gd name="adj" fmla="val 25000"/>
            </a:avLst>
          </a:prstGeom>
          <a:solidFill>
            <a:srgbClr val="E51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0" y="548640"/>
            <a:ext cx="2468880" cy="8887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1510" y="655295"/>
            <a:ext cx="2073860" cy="6902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103120"/>
            <a:ext cx="9144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Título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9D0F0"/>
                </a:solidFill>
                <a:latin typeface="Arial"/>
              </a:rPr>
              <a:t>Área · mês de referência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E99D6"/>
                </a:solidFill>
                <a:latin typeface="Arial"/>
              </a:rPr>
              <a:t>Lube Distribuidora · desde 1959 · Cariacica-ES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>
            <a:off x="548640" y="566928"/>
            <a:ext cx="457200" cy="457200"/>
          </a:xfrm>
          <a:prstGeom prst="parallelogram">
            <a:avLst>
              <a:gd name="adj" fmla="val 25000"/>
            </a:avLst>
          </a:prstGeom>
          <a:solidFill>
            <a:srgbClr val="E51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D176E"/>
                </a:solidFill>
                <a:latin typeface="Arial"/>
              </a:rPr>
              <a:t>Agenda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57200"/>
            <a:ext cx="1554480" cy="51735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D1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" y="1737360"/>
            <a:ext cx="731520" cy="731520"/>
          </a:xfrm>
          <a:prstGeom prst="ellipse">
            <a:avLst/>
          </a:prstGeom>
          <a:solidFill>
            <a:srgbClr val="0D1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81051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B2140"/>
                </a:solidFill>
                <a:latin typeface="Arial"/>
              </a:rPr>
              <a:t>Resultado do mês</a:t>
            </a:r>
          </a:p>
        </p:txBody>
      </p:sp>
      <p:sp>
        <p:nvSpPr>
          <p:cNvPr id="8" name="Oval 7"/>
          <p:cNvSpPr/>
          <p:nvPr/>
        </p:nvSpPr>
        <p:spPr>
          <a:xfrm>
            <a:off x="1143000" y="2926080"/>
            <a:ext cx="731520" cy="731520"/>
          </a:xfrm>
          <a:prstGeom prst="ellipse">
            <a:avLst/>
          </a:prstGeom>
          <a:solidFill>
            <a:srgbClr val="0D1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9992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B2140"/>
                </a:solidFill>
                <a:latin typeface="Arial"/>
              </a:rPr>
              <a:t>O que funcionou e o que não funcionou</a:t>
            </a:r>
          </a:p>
        </p:txBody>
      </p:sp>
      <p:sp>
        <p:nvSpPr>
          <p:cNvPr id="10" name="Oval 9"/>
          <p:cNvSpPr/>
          <p:nvPr/>
        </p:nvSpPr>
        <p:spPr>
          <a:xfrm>
            <a:off x="1143000" y="4114800"/>
            <a:ext cx="731520" cy="731520"/>
          </a:xfrm>
          <a:prstGeom prst="ellipse">
            <a:avLst/>
          </a:prstGeom>
          <a:solidFill>
            <a:srgbClr val="0D1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418795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B2140"/>
                </a:solidFill>
                <a:latin typeface="Arial"/>
              </a:rPr>
              <a:t>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>
            <a:off x="548640" y="566928"/>
            <a:ext cx="457200" cy="457200"/>
          </a:xfrm>
          <a:prstGeom prst="parallelogram">
            <a:avLst>
              <a:gd name="adj" fmla="val 25000"/>
            </a:avLst>
          </a:prstGeom>
          <a:solidFill>
            <a:srgbClr val="E51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D176E"/>
                </a:solidFill>
                <a:latin typeface="Arial"/>
              </a:rPr>
              <a:t>Resultado do mês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57200"/>
            <a:ext cx="1554480" cy="51735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D1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1828800"/>
            <a:ext cx="3200400" cy="2377440"/>
          </a:xfrm>
          <a:prstGeom prst="roundRect">
            <a:avLst>
              <a:gd name="adj" fmla="val 8000"/>
            </a:avLst>
          </a:prstGeom>
          <a:solidFill>
            <a:srgbClr val="E8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2103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3796"/>
                </a:solidFill>
                <a:latin typeface="Arial"/>
              </a:rPr>
              <a:t>VENDA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74320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0D176E"/>
                </a:solidFill>
                <a:latin typeface="Arial"/>
              </a:rPr>
              <a:t>R$ 0,0 mi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828800"/>
            <a:ext cx="3200400" cy="2377440"/>
          </a:xfrm>
          <a:prstGeom prst="roundRect">
            <a:avLst>
              <a:gd name="adj" fmla="val 8000"/>
            </a:avLst>
          </a:prstGeom>
          <a:solidFill>
            <a:srgbClr val="E8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0" y="2103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3796"/>
                </a:solidFill>
                <a:latin typeface="Arial"/>
              </a:rPr>
              <a:t>MARGEM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74320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0D176E"/>
                </a:solidFill>
                <a:latin typeface="Arial"/>
              </a:rPr>
              <a:t>0,0%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828800"/>
            <a:ext cx="3200400" cy="2377440"/>
          </a:xfrm>
          <a:prstGeom prst="roundRect">
            <a:avLst>
              <a:gd name="adj" fmla="val 8000"/>
            </a:avLst>
          </a:prstGeom>
          <a:solidFill>
            <a:srgbClr val="E8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199" y="2103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3796"/>
                </a:solidFill>
                <a:latin typeface="Arial"/>
              </a:rPr>
              <a:t>META ATINGIDA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199" y="274320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0D176E"/>
                </a:solidFill>
                <a:latin typeface="Arial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754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C6480"/>
                </a:solidFill>
                <a:latin typeface="Arial"/>
              </a:rPr>
              <a:t>Uma frase que explica o resultado: o que puxou para cima, o que puxou para baixo.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>
            <a:off x="548640" y="566928"/>
            <a:ext cx="457200" cy="457200"/>
          </a:xfrm>
          <a:prstGeom prst="parallelogram">
            <a:avLst>
              <a:gd name="adj" fmla="val 25000"/>
            </a:avLst>
          </a:prstGeom>
          <a:solidFill>
            <a:srgbClr val="E51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D176E"/>
                </a:solidFill>
                <a:latin typeface="Arial"/>
              </a:rPr>
              <a:t>Próximos passos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57200"/>
            <a:ext cx="1554480" cy="51735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D1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400">
                <a:solidFill>
                  <a:srgbClr val="1B2140"/>
                </a:solidFill>
                <a:latin typeface="Arial"/>
              </a:rPr>
              <a:t>▸  Ação · responsável · prazo</a:t>
            </a:r>
          </a:p>
          <a:p>
            <a:pPr>
              <a:spcAft>
                <a:spcPts val="1800"/>
              </a:spcAft>
            </a:pPr>
            <a:r>
              <a:rPr sz="2400">
                <a:solidFill>
                  <a:srgbClr val="1B2140"/>
                </a:solidFill>
                <a:latin typeface="Arial"/>
              </a:rPr>
              <a:t>▸  Ação · responsável · prazo</a:t>
            </a:r>
          </a:p>
          <a:p>
            <a:pPr>
              <a:spcAft>
                <a:spcPts val="1800"/>
              </a:spcAft>
            </a:pPr>
            <a:r>
              <a:rPr sz="2400">
                <a:solidFill>
                  <a:srgbClr val="1B2140"/>
                </a:solidFill>
                <a:latin typeface="Arial"/>
              </a:rPr>
              <a:t>▸  Ação · responsável · prazo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7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>
            <a:off x="4754880" y="3977639"/>
            <a:ext cx="7863840" cy="457200"/>
          </a:xfrm>
          <a:prstGeom prst="parallelogram">
            <a:avLst>
              <a:gd name="adj" fmla="val 25000"/>
            </a:avLst>
          </a:prstGeom>
          <a:solidFill>
            <a:srgbClr val="E51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0" y="1554480"/>
            <a:ext cx="3017520" cy="108630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3401" y="1684836"/>
            <a:ext cx="2534718" cy="8435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48463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Obrigado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